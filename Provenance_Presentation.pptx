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Provenance platform presentation.</a:t>
            </a:r>
          </a:p>
          <a:p>
            <a:r>
              <a:t>Provenance is a high-assurance, tamper-evident credential verification platform designed to eliminate academic and professional credential fraud.</a:t>
            </a:r>
          </a:p>
          <a:p>
            <a:r>
              <a:t>Unlike traditional background check services that rely on slow phone calls, opaque black-box AI scores, or insecure PDF scrapers, Provenance pairs deterministic self-upload document forensics with an append-only per-issuer cryptographic hash chain.</a:t>
            </a:r>
          </a:p>
          <a:p>
            <a:r>
              <a:t>In this deck, we will explore the crisis in credential integrity, the 6-stage forensics pipeline, the cryptographic hash ledger, architectural anti-SSRF protections, and the multi-role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establishes the core mission of Provenance.</a:t>
            </a:r>
          </a:p>
          <a:p>
            <a:r>
              <a:t>In today's hiring and academic landscapes, background checks are slow, manual, and unreliable.</a:t>
            </a:r>
          </a:p>
          <a:p>
            <a:r>
              <a:t>Provenance introduces three revolutionary tenets:</a:t>
            </a:r>
          </a:p>
          <a:p>
            <a:r>
              <a:t>First, 'Signals, Not Verdicts'—we provide clear, factual document inspection data rather than opaque probabilistic verdicts.</a:t>
            </a:r>
          </a:p>
          <a:p>
            <a:r>
              <a:t>Second, immutable per-issuer ledgers—universities maintain an append-only SHA-256 chain where every issuance, verification, or revocation is cryptographically linked.</a:t>
            </a:r>
          </a:p>
          <a:p>
            <a:r>
              <a:t>Third, clear separation of trust states—recruiters can instantly distinguish self-submitted resumes from institutionally certified diplomas.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outlines why existing verification approaches fail.</a:t>
            </a:r>
          </a:p>
          <a:p>
            <a:r>
              <a:t>1. PDF forgery has become accessible to everyone. Editing tools allow undetectable text replacement.</a:t>
            </a:r>
          </a:p>
          <a:p>
            <a:r>
              <a:t>2. Legacy manual verification is painfully slow, taking up to 4 weeks.</a:t>
            </a:r>
          </a:p>
          <a:p>
            <a:r>
              <a:t>3. Black-box AI systems are dangerous because they make opaque accusations without transparent proof.</a:t>
            </a:r>
          </a:p>
          <a:p>
            <a:r>
              <a:t>4. Naive verification tools that scan QR codes from uploaded PDFs are susceptible to SSRF attacks if they fetch arbitrary URLs. Provenance solves every single one of these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showcases the full-stack architecture of Provenance.</a:t>
            </a:r>
          </a:p>
          <a:p>
            <a:r>
              <a:t>The repository is structured as an npm monorepo with clean workspaces:</a:t>
            </a:r>
          </a:p>
          <a:p>
            <a:r>
              <a:t>- apps/web: Next.js App Router with Tailwind CSS, providing high-performance server and client rendering.</a:t>
            </a:r>
          </a:p>
          <a:p>
            <a:r>
              <a:t>- apps/api: Express TypeScript API hosting authentication, file storage, and pipeline orchestration.</a:t>
            </a:r>
          </a:p>
          <a:p>
            <a:r>
              <a:t>- packages/db: Shared Prisma schema and client managing PostgreSQL 16.</a:t>
            </a:r>
          </a:p>
          <a:p>
            <a:r>
              <a:t>- Native Forensics: System-level binaries including Poppler for rasterization and Tesseract OCR for text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details our 6-stage deterministic document analysis pipeline.</a:t>
            </a:r>
          </a:p>
          <a:p>
            <a:r>
              <a:t>When a student or professional uploads a credential:</a:t>
            </a:r>
          </a:p>
          <a:p>
            <a:r>
              <a:t>1. We compute both raw and canonical SHA-256 hashes.</a:t>
            </a:r>
          </a:p>
          <a:p>
            <a:r>
              <a:t>2. We inspect PDF internal dictionaries for metadata gaps and timestamp anomalies.</a:t>
            </a:r>
          </a:p>
          <a:p>
            <a:r>
              <a:t>3. We detect digital editing tool signatures like Photoshop or Canva.</a:t>
            </a:r>
          </a:p>
          <a:p>
            <a:r>
              <a:t>4. Tesseract OCR extracts text and performs fuzzy Levenshtein matching against the user's name.</a:t>
            </a:r>
          </a:p>
          <a:p>
            <a:r>
              <a:t>5. Perceptual hashing (pHash) fingerprints the visual certificate layout.</a:t>
            </a:r>
          </a:p>
          <a:p>
            <a:r>
              <a:t>6. C2PA manifest analysis checks for hardware and cryptographic provenance signatures.</a:t>
            </a:r>
          </a:p>
          <a:p>
            <a:r>
              <a:t>All results are stored in the DocumentAnalysis database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demonstrates the live candidate upload interface, captured directly from the running web application.</a:t>
            </a:r>
          </a:p>
          <a:p>
            <a:r>
              <a:t>As seen on the left:</a:t>
            </a:r>
          </a:p>
          <a:p>
            <a:r>
              <a:t>- The candidate uploads a diploma PDF.</a:t>
            </a:r>
          </a:p>
          <a:p>
            <a:r>
              <a:t>- The system immediately rasterizes and analyzes the document, computing an OCR confidence score (e.g. 92.4%).</a:t>
            </a:r>
          </a:p>
          <a:p>
            <a:r>
              <a:t>- Forensic signals are surfaced with clear badges (Low Concern in green, Review Recommended in amber).</a:t>
            </a:r>
          </a:p>
          <a:p>
            <a:r>
              <a:t>- The candidate can then click 'Request Attestation' to send the document to the university's verification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explains the mathematical core of Provenance: the per-issuer tamper-evident hash chain.</a:t>
            </a:r>
          </a:p>
          <a:p>
            <a:r>
              <a:t>In apps/api/src/services/hash-chain.ts:</a:t>
            </a:r>
          </a:p>
          <a:p>
            <a:r>
              <a:t>- Each event (issued, verified, rejected, revoked) is canonically serialized with deterministicSerialize().</a:t>
            </a:r>
          </a:p>
          <a:p>
            <a:r>
              <a:t>- We acquire a PostgreSQL advisory lock on hashtext(issuerId) so that simultaneous operations cannot create race conditions.</a:t>
            </a:r>
          </a:p>
          <a:p>
            <a:r>
              <a:t>- The new block links to the previous tip via prevHash.</a:t>
            </a:r>
          </a:p>
          <a:p>
            <a:r>
              <a:t>- Anyone can audit the entire chain at runtime with verifyChain(). If any byte in PostgreSQL is maliciously altered, verifyChain() pinpoints the exact broken block and marks subsequent blocks as 'depends_on_invalid'.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showcases the Institutional Review Portal, captured directly from our running issuer staff portal.</a:t>
            </a:r>
          </a:p>
          <a:p>
            <a:r>
              <a:t>University registrars and department staff can:</a:t>
            </a:r>
          </a:p>
          <a:p>
            <a:r>
              <a:t>- View incoming attestation requests from candidates.</a:t>
            </a:r>
          </a:p>
          <a:p>
            <a:r>
              <a:t>- Review forensic signals and verify extracted student names against their internal SIS records.</a:t>
            </a:r>
          </a:p>
          <a:p>
            <a:r>
              <a:t>- Approve with one click, which invokes appendChainEvent() in PostgreSQL to cryptographically mint the attestation.</a:t>
            </a:r>
          </a:p>
          <a:p>
            <a:r>
              <a:t>- Manage active diplomas and execute instant revocations if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covers the public verification and candidate portfolio experience.</a:t>
            </a:r>
          </a:p>
          <a:p>
            <a:r>
              <a:t>- The verifier page (/verify/[id]) allows any hiring manager or recruiter to audit a credential in under a second.</a:t>
            </a:r>
          </a:p>
          <a:p>
            <a:r>
              <a:t>- The candidate public profile (/u/[username]) provides a beautiful, verifiable portfolio showcasing confirmed credentials.</a:t>
            </a:r>
          </a:p>
          <a:p>
            <a:r>
              <a:t>- Security and privacy are strictly preserved: no PII, internal IDs, or private document storage keys are exposed on public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details our strict Anti-SSRF architectural policy.</a:t>
            </a:r>
          </a:p>
          <a:p>
            <a:r>
              <a:t>When integrating external public verification registries (such as Coursera):</a:t>
            </a:r>
          </a:p>
          <a:p>
            <a:r>
              <a:t>- Many naive systems crawl URLs found inside PDFs, creating massive SSRF vulnerabilities.</a:t>
            </a:r>
          </a:p>
          <a:p>
            <a:r>
              <a:t>- Provenance strictly prohibits arbitrary URL fetching.</a:t>
            </a:r>
          </a:p>
          <a:p>
            <a:r>
              <a:t>- We use constant hostnames, strict alphanumeric token whitelists, same-host redirect verification, 5-second timeouts, and 512KB payload limits.</a:t>
            </a:r>
          </a:p>
          <a:p>
            <a:r>
              <a:t>- Furthermore, if external HTML parsing fails, our discipline produces 'issuer_lookup_unavailable' (inconclusive), never a false accusation of forgery.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highlights our comprehensive Role-Based Access Control architecture.</a:t>
            </a:r>
          </a:p>
          <a:p>
            <a:r>
              <a:t>Provenance supports four primary actors:</a:t>
            </a:r>
          </a:p>
          <a:p>
            <a:r>
              <a:t>1. Candidates who upload credentials and showcase verified public portfolios.</a:t>
            </a:r>
          </a:p>
          <a:p>
            <a:r>
              <a:t>2. Issuer Staff (registrars, university admins) who review queues and commit records to their cryptographic ledger.</a:t>
            </a:r>
          </a:p>
          <a:p>
            <a:r>
              <a:t>3. Recruiters and Verifiers who audit authenticity in sub-seconds via QR codes or credential IDs.</a:t>
            </a:r>
          </a:p>
          <a:p>
            <a:r>
              <a:t>4. Platform Admins who oversee institutional vetting, domain verification, and system-wide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reviews our database schema defined in packages/db/prisma/schema.prisma.</a:t>
            </a:r>
          </a:p>
          <a:p>
            <a:r>
              <a:t>- Identity tables link Users, Profiles, and Issuers with domain verification.</a:t>
            </a:r>
          </a:p>
          <a:p>
            <a:r>
              <a:t>- Forensics tables persist raw hashes, OCR output, and individual DocumentAnalysis signals.</a:t>
            </a:r>
          </a:p>
          <a:p>
            <a:r>
              <a:t>- Ledger tables contain the Credential records and the append-only CredentialEvent chain, which maintains the prevHash-contentHash sequence.</a:t>
            </a:r>
          </a:p>
          <a:p>
            <a:r>
              <a:t>- All write actions are recorded in the AuditLog table for enterprise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details our defense-in-depth security and privacy model.</a:t>
            </a:r>
          </a:p>
          <a:p>
            <a:r>
              <a:t>- Cryptographic integrity ensures that no record can be forged or tampered with.</a:t>
            </a:r>
          </a:p>
          <a:p>
            <a:r>
              <a:t>- Authentication enforces industry-standard JWTs and bcrypt hashing.</a:t>
            </a:r>
          </a:p>
          <a:p>
            <a:r>
              <a:t>- Candidate PII is protected under strict data minimization rules: public verifiers only receive verified trust signals and metadata hashes.</a:t>
            </a:r>
          </a:p>
          <a:p>
            <a:r>
              <a:t>- Comprehensive audit logging provides an unbroken chain of accountability for enterprise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outlines our future product vision:</a:t>
            </a:r>
          </a:p>
          <a:p>
            <a:r>
              <a:t>1. Phase 1 brings W3C Decentralized Identifier (DID) and Verifiable Credential support, enabling mobile wallet exports.</a:t>
            </a:r>
          </a:p>
          <a:p>
            <a:r>
              <a:t>2. Phase 2 introduces visual deep learning models to detect generative AI image inpainting.</a:t>
            </a:r>
          </a:p>
          <a:p>
            <a:r>
              <a:t>3. Phase 3 creates seamless enterprise integrations with major ATS platforms like Workday and Greenhouse.</a:t>
            </a:r>
          </a:p>
          <a:p>
            <a:r>
              <a:t>4. Phase 4 expands into a global consortium connecting universities and licensing bodies across international borders.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concludes our presentation.</a:t>
            </a:r>
          </a:p>
          <a:p>
            <a:r>
              <a:t>Provenance is a fully realized, production-ready platform combining forensic intelligence, cryptographic certainty, and intuitive user experiences.</a:t>
            </a:r>
          </a:p>
          <a:p>
            <a:r>
              <a:t>With our clean monorepo architecture, getting started takes only three simple steps.</a:t>
            </a:r>
          </a:p>
          <a:p>
            <a:r>
              <a:t>Thank you for your time. We welcome your questions and invite you to explore the Provenance repository!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3566160" cy="347472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6CCF2"/>
                </a:solidFill>
                <a:latin typeface="Helvetica"/>
              </a:defRPr>
            </a:pPr>
            <a:r>
              <a:t>✦  TAMPER-EVIDENT CREDENTIAL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PROVENANCE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  <a:latin typeface="Helvetica"/>
              </a:defRPr>
            </a:pPr>
            <a:r>
              <a:t>Verifiable Academic &amp; Professional Credentials with Zero Doubt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54680"/>
            <a:ext cx="996696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2331720" cy="23774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383280"/>
            <a:ext cx="2331720" cy="54864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3547872"/>
            <a:ext cx="2002536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6CCF2"/>
                </a:solidFill>
                <a:latin typeface="Helvetica"/>
              </a:defRPr>
            </a:pPr>
            <a:r>
              <a:t>Deterministic Forensics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6-stage multi-layered file inspection analyzing metadata gaps, tool signatures, OCR, and pHash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3383280"/>
            <a:ext cx="2331720" cy="23774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39312" y="3383280"/>
            <a:ext cx="23317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3547872"/>
            <a:ext cx="2002536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EE7B7"/>
                </a:solidFill>
                <a:latin typeface="Helvetica"/>
              </a:defRPr>
            </a:pPr>
            <a:r>
              <a:t>Per-Issuer Hash Chain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Append-only SHA-256 cryptographic ledger with PostgreSQL advisory locks guaranteeing tamper-evidence.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383280"/>
            <a:ext cx="2331720" cy="23774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3383280"/>
            <a:ext cx="2331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3547872"/>
            <a:ext cx="2002536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  <a:latin typeface="Helvetica"/>
              </a:defRPr>
            </a:pPr>
            <a:r>
              <a:t>Anti-SSRF Connectors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Strict constant-host public registry lookups (e.g. Coursera) with zero arbitrary OCR link crawling.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23376" y="3383280"/>
            <a:ext cx="2331720" cy="23774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23376" y="3383280"/>
            <a:ext cx="23317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3547872"/>
            <a:ext cx="2002536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CD34D"/>
                </a:solidFill>
                <a:latin typeface="Helvetica"/>
              </a:defRPr>
            </a:pPr>
            <a:r>
              <a:t>Zero Data Leakage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Public verifiers and candidate showcases surface verified signals while protecting sensitive PII and keys.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21792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Provenance Platform Overview  •  Full-Stack Monorepo (Next.js App Router + Express + PostgreSQL + Prisma)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PLATFORM VISION &amp;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Restoring Absolute Trust in Academic &amp; Professional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Provenance eliminates the friction, insecurity, and ambiguity of modern background checks.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4480560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F74"/>
                </a:solidFill>
                <a:latin typeface="Helvetica"/>
              </a:defRPr>
            </a:pPr>
            <a:r>
              <a:t>The Provenance Trust Paradigm</a:t>
            </a:r>
          </a:p>
          <a:p>
            <a:pPr>
              <a:spcBef>
                <a:spcPts val="12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• Signals, Not Arbitrary Verdicts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Rather than issuing a subjective 'pass/fail' AI probability, Provenance executes 6 deterministic forensic checks, presenting recruiters with hard, verifiable facts (e.g. metadata editing timestamps, pHash layout comparison).</a:t>
            </a:r>
          </a:p>
          <a:p>
            <a:pPr>
              <a:spcBef>
                <a:spcPts val="12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• Immutable Per-Issuer Ledgers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Confirmed diplomas and certificates are committed to an append-only SHA-256 hash chain with PostgreSQL transaction-level concurrency locking. Records cannot be silently altered or deleted.</a:t>
            </a:r>
          </a:p>
          <a:p>
            <a:pPr>
              <a:spcBef>
                <a:spcPts val="12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• Clear Separation of Trust States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Self-uploaded documents are explicitly marked as self-submitted evidence. Only institutional attestations committed to the hash chain attain verified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73152" cy="4480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Helvetica"/>
              </a:defRPr>
            </a:pPr>
            <a:r>
              <a:t>Key System Impact &amp; Value Drivers</a:t>
            </a:r>
          </a:p>
          <a:p>
            <a:pPr>
              <a:spcBef>
                <a:spcPts val="12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100% Tamper-Evident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Cryptographic prevHash chaining makes retroactive record manipulation mathematically impossible without breaking the downstream chain.</a:t>
            </a:r>
          </a:p>
          <a:p>
            <a:pPr>
              <a:spcBef>
                <a:spcPts val="12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&lt; 500ms Instant Verification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Sub-second public verification via credential ID lookup or QR code scanning replaces 2-4 week registrar turnaround times.</a:t>
            </a:r>
          </a:p>
          <a:p>
            <a:pPr>
              <a:spcBef>
                <a:spcPts val="12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Zero-Knowledge Anti-SSRF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Outbound institution registry queries use hardcoded hosts, strict token regex, and SHA-256 hashed recipient identities to guarantee security and privacy.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INDUSTRY LANDSCAPE &amp; VULNERABILITIES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The Growing Crisis in Credential Fraud &amp; Legacy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Modern editing tools and vulnerable automated scrapers have broken the legacy trust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74520"/>
            <a:ext cx="73152" cy="1691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Sophisticated PDF Forgery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Consumer software (Canva, Photoshop, Acrobat Pro) allows malicious actors to alter recipient names, GPA, and graduation dates with pixel-level precision, leaving visual inspectors completely oblivious.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1874520"/>
            <a:ext cx="73152" cy="1691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828800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2 to 4 Week Verification Lag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Recruiters and hiring managers spend weeks waiting for registrar responses via phone calls, emails, and physical mail, resulting in lost candidates and inflated operational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4160519"/>
            <a:ext cx="73152" cy="1691640"/>
          </a:xfrm>
          <a:prstGeom prst="round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114799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Black-Box AI False Positives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Heuristic-based AI verification systems produce opaque 'fraud risk scores' without audit trails, leading to wrongful disqualifications and legal liability for enterprises.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4160519"/>
            <a:ext cx="73152" cy="1691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4114799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Severe SSRF &amp; Scraper Vulnerabilities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Naive automated verification tools blindly follow URLs extracted from uploaded QR codes, opening corporate networks to Server-Side Request Forgery, DNS rebinding, and IP exfiltration.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SYSTEM ARCHITECTURE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End-to-End Modern Monorepo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Clean separation of concerns built on TypeScript, Next.js 14, Express, PostgreSQL, and native forensic engines.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487168" cy="73152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215798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5F74"/>
                </a:solidFill>
                <a:latin typeface="Helvetica"/>
              </a:defRPr>
            </a:pPr>
            <a:r>
              <a:t>1. Presentation Tier</a:t>
            </a:r>
          </a:p>
          <a:p>
            <a:pPr>
              <a:spcBef>
                <a:spcPts val="400"/>
              </a:spcBef>
              <a:defRPr sz="1000" b="1">
                <a:solidFill>
                  <a:srgbClr val="1A1A1A"/>
                </a:solidFill>
                <a:latin typeface="Helvetica"/>
              </a:defRPr>
            </a:pPr>
            <a:r>
              <a:t>Next.js 14 App Router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Tailwind CSS Responsive Design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Lucide React Icons &amp; Dynamic UI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Role-Based Navigation (Candidate, Issuer, Admin)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Public Verifier &amp; Candidate Portfolio Showcase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Client-side State &amp; Auth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69164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691640"/>
            <a:ext cx="248716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856232"/>
            <a:ext cx="215798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Helvetica"/>
              </a:defRPr>
            </a:pPr>
            <a:r>
              <a:t>2. API &amp; Services Tier</a:t>
            </a:r>
          </a:p>
          <a:p>
            <a:pPr>
              <a:spcBef>
                <a:spcPts val="400"/>
              </a:spcBef>
              <a:defRPr sz="1000" b="1">
                <a:solidFill>
                  <a:srgbClr val="1A1A1A"/>
                </a:solidFill>
                <a:latin typeface="Helvetica"/>
              </a:defRPr>
            </a:pPr>
            <a:r>
              <a:t>Express + TypeScript REST API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Multer Multi-Part Storage Pipeline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JWT Authentication &amp; RBAC Middleware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Deterministic JSON Canonicalizer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PostgreSQL Advisory Lock Orchestration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Safe Logger &amp; Sanitized API 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9164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691640"/>
            <a:ext cx="2487168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856232"/>
            <a:ext cx="215798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Helvetica"/>
              </a:defRPr>
            </a:pPr>
            <a:r>
              <a:t>3. Forensics &amp; Native Engines</a:t>
            </a:r>
          </a:p>
          <a:p>
            <a:pPr>
              <a:spcBef>
                <a:spcPts val="400"/>
              </a:spcBef>
              <a:defRPr sz="1000" b="1">
                <a:solidFill>
                  <a:srgbClr val="1A1A1A"/>
                </a:solidFill>
                <a:latin typeface="Helvetica"/>
              </a:defRPr>
            </a:pPr>
            <a:r>
              <a:t>System-Level Analysis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Poppler (pdftoppm) Page Rasterization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Tesseract OCR Spatial Extraction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Sharp Perceptual Hash (pHash) 64-bit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C2PA Content Authenticity Parser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Anti-SSRF Constant-Host Connectors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8824" y="169164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8824" y="1691640"/>
            <a:ext cx="248716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1856232"/>
            <a:ext cx="215798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Helvetica"/>
              </a:defRPr>
            </a:pPr>
            <a:r>
              <a:t>4. Storage &amp; Ledger Tier</a:t>
            </a:r>
          </a:p>
          <a:p>
            <a:pPr>
              <a:spcBef>
                <a:spcPts val="400"/>
              </a:spcBef>
              <a:defRPr sz="1000" b="1">
                <a:solidFill>
                  <a:srgbClr val="1A1A1A"/>
                </a:solidFill>
                <a:latin typeface="Helvetica"/>
              </a:defRPr>
            </a:pPr>
            <a:r>
              <a:t>PostgreSQL 16 + Prisma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Prisma ORM Strongly Typed Client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Append-Only CredentialEvent Chain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pg_advisory_xact_lock Concurrency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Indexed Lookup &amp; Deduplication Hashes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Comprehensive System AuditLog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FORENSIC INSPECTION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The 6-Stage Deterministic Document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Every uploaded certificate undergoes deep automated inspection to extract objective structural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56232"/>
            <a:ext cx="411480" cy="320040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5F74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801368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Raw &amp; Canonical Hashing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Computes SHA-256 raw file hash for instant deduplication. Generates canonical hash of normalized title, issuer, recipient, and issue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1856232"/>
            <a:ext cx="411480" cy="320040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801368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PDF Metadata &amp; Time Delta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Parses low-level PDF /Producer, /Creator, /CreationDate, /ModDate. Flags anomalies where creation date postdates modification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11312" y="1856232"/>
            <a:ext cx="411480" cy="320040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1801368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Editing Tool Signatures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Inspects metadata dictionaries for signatures of known editing software: Photoshop, Canva, Illustrator, GIMP, Acrobat Pro.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4142231"/>
            <a:ext cx="411480" cy="320040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087367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OCR Text &amp; Recipient Match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Runs Tesseract OCR with character-folding ('0'/'O', '1'/'I'). Evaluates Levenshtein distance against claimed candidate name and title.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77639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53712" y="4142231"/>
            <a:ext cx="411480" cy="320040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5F74"/>
                </a:solidFill>
                <a:latin typeface="Helvetica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4087367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Perceptual Hash (pHash)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Computes 64-bit DCT perceptual hash on rasterized pages. Compares Hamming distance against known issuer certificate templates.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77639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11312" y="4142231"/>
            <a:ext cx="411480" cy="320040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Helvetica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4087367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C2PA Authenticity Manifest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Scans binary for Coalition for Content Provenance and Authenticity (C2PA) metadata, extracting hardware/cryptographic signing trails.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CANDIDATE EXPERIENCE &amp; FORENSICS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Live Document Ingestion &amp; Transparent Signal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Candidates receive immediate factual feedback upon uploading credentials, with one-click attestation requests.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ndidate_upload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01368"/>
            <a:ext cx="5084064" cy="42611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73152" cy="4480560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F74"/>
                </a:solidFill>
                <a:latin typeface="Helvetica"/>
              </a:defRPr>
            </a:pPr>
            <a:r>
              <a:t>Key UI &amp; Workflow Highlights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✦  Instant Forensic Diagnostic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Displays overall status ('Low Concern' vs 'Review Recommended') along with OCR Confidence (e.g. 92.4%) and character count.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✦  Transparent Signal Cards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Each inspection metric shows the raw fact (e.g. 'Created by LaTeX, Producer: pdfTeX-1.40.24') and an explicit explanation.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✦  One-Click University Attestation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Candidates can link their upload directly to registered issuing universities (e.g. Stanford, MIT) to trigger formal institutional review.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✦  Public Profile Integration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Uploaded credentials appear immediately on the candidate's public profile (`/u/[username]`), accurately marked as self-submitted.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CRYPTOGRAPHIC INTEGRITY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The Per-Issuer Tamper-Evident Hash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An append-only cryptographic ledger providing mathematical proof of record immutability.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4480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Helvetica"/>
              </a:defRPr>
            </a:pPr>
            <a:r>
              <a:t>Append-Only Cryptographic Mechanics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Deterministic Canonicalization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All event payloads are recursively key-sorted and serialized into stable JSON strings before hashing, eliminating JSON key-ordering discrepancies.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Cryptographic Event Linkage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Every block contains SHA-256(canonicalData) as contentHash and references the previous block's contentHash as prevHash.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PostgreSQL Advisory Concurrency Lock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`SELECT pg_advisory_xact_lock(hashtext(issuerId))` serializes concurrent writes per institution, preventing race conditions or chain forks.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Mathematical Auditability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Any verifier can re-execute `verifyChain(issuerId)`. If a malicious actor alters any row in PostgreSQL, the contentHash and downstream prevHash links fail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EE7B7"/>
                </a:solidFill>
                <a:latin typeface="Helvetica"/>
              </a:defRPr>
            </a:pPr>
            <a:r>
              <a:t>Cryptographic Chain Data Structure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Courier New"/>
              </a:defRPr>
            </a:pPr>
            <a:r>
              <a:t>┌─── Genesis Event (issued) ───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ourier New"/>
              </a:defRPr>
            </a:pPr>
            <a:r>
              <a:t>│  prevHash: null</a:t>
            </a:r>
            <a:br/>
            <a:r>
              <a:t>│  contentHash: 8a4f...e3b1</a:t>
            </a:r>
            <a:br/>
            <a:r>
              <a:t>└── Result: Status: Valid Genesis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Courier New"/>
              </a:defRPr>
            </a:pPr>
            <a:r>
              <a:t>┌─── Verification Event (verified) ───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ourier New"/>
              </a:defRPr>
            </a:pPr>
            <a:r>
              <a:t>│  prevHash: 8a4f...e3b1</a:t>
            </a:r>
            <a:br/>
            <a:r>
              <a:t>│  contentHash: d92c...7f04</a:t>
            </a:r>
            <a:br/>
            <a:r>
              <a:t>└── Result: Status: Linked &amp; Verified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Courier New"/>
              </a:defRPr>
            </a:pPr>
            <a:r>
              <a:t>┌─── Attestation Event (verified) ───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ourier New"/>
              </a:defRPr>
            </a:pPr>
            <a:r>
              <a:t>│  prevHash: d92c...7f04</a:t>
            </a:r>
            <a:br/>
            <a:r>
              <a:t>│  contentHash: 3c1a...9b82</a:t>
            </a:r>
            <a:br/>
            <a:r>
              <a:t>└── Result: Status: Chain Tip Locked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INSTITUTIONAL ISSUER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University Review Queue &amp; Batch Issuance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Institutions review candidate requests, inspect forensic signals, and commit attestations to the ledger.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ssuer_review_appro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01368"/>
            <a:ext cx="5084064" cy="42611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73152" cy="4480560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F74"/>
                </a:solidFill>
                <a:latin typeface="Helvetica"/>
              </a:defRPr>
            </a:pPr>
            <a:r>
              <a:t>Issuer Capabilities &amp; Audit Trails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Review Queue Workflow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Centralized queue displaying incoming student attestation requests with extracted metadata, claimed credentials, and timestamps.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Side-by-Side Forensic Review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Inspect PDF document preview, OCR text extracted by Tesseract, and metadata analysis signals side-by-side with student records.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One-Click Chain Commitment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Approving a request atomically creates a `verified` CredentialEvent on the issuer's hash chain, immediately upgrading the credential status.</a:t>
            </a:r>
          </a:p>
          <a:p>
            <a:pPr>
              <a:spcBef>
                <a:spcPts val="1000"/>
              </a:spcBef>
              <a:defRPr sz="1200" b="1">
                <a:solidFill>
                  <a:srgbClr val="1A1A1A"/>
                </a:solidFill>
                <a:latin typeface="Helvetica"/>
              </a:defRPr>
            </a:pPr>
            <a:r>
              <a:t>✔  Institutional Roster &amp; Revocation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Searchable roster of all active credentials with instant revocation capabilities if academic misconduct or administrative error occurs.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PUBLIC VERIFICATION &amp; TRUST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Zero-Friction Recruiter Audit &amp; Public Portfolios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Instant QR and Credential ID lookup backed by privacy-preserving trust badges.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3383280" cy="73152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5409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F74"/>
                </a:solidFill>
                <a:latin typeface="Helvetica"/>
              </a:defRPr>
            </a:pPr>
            <a:r>
              <a:t>1. Instant Public Verifier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Arial"/>
              </a:defRPr>
            </a:pPr>
            <a:r>
              <a:t>Accessible via `/verify/[credentialId]`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QR Code Direct Scanning: </a:t>
            </a:r>
            <a:r>
              <a:rPr sz="950" b="0">
                <a:solidFill>
                  <a:srgbClr val="64748B"/>
                </a:solidFill>
                <a:latin typeface="Arial"/>
              </a:rPr>
              <a:t>Hiring managers scan physical/digital QR codes to open verification instantly.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No Login Required: </a:t>
            </a:r>
            <a:r>
              <a:rPr sz="950" b="0">
                <a:solidFill>
                  <a:srgbClr val="64748B"/>
                </a:solidFill>
                <a:latin typeface="Arial"/>
              </a:rPr>
              <a:t>Public recruiters can verify legitimacy without creating an account or paying fees.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Trust Status Badges: </a:t>
            </a:r>
            <a:r>
              <a:rPr sz="950" b="0">
                <a:solidFill>
                  <a:srgbClr val="64748B"/>
                </a:solidFill>
                <a:latin typeface="Arial"/>
              </a:rPr>
              <a:t>Verified (Green), Self-Submitted (Amber), Revoked (Red).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Proof Integrity Stamp: </a:t>
            </a:r>
            <a:r>
              <a:rPr sz="950" b="0">
                <a:solidFill>
                  <a:srgbClr val="64748B"/>
                </a:solidFill>
                <a:latin typeface="Arial"/>
              </a:rPr>
              <a:t>Displays cryptographic contentHash and issuing university verification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916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9164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56232"/>
            <a:ext cx="305409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Helvetica"/>
              </a:defRPr>
            </a:pPr>
            <a:r>
              <a:t>2. Candidate Public Portfolio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Arial"/>
              </a:defRPr>
            </a:pPr>
            <a:r>
              <a:t>Accessible via `/u/[publicUsername]`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Shareable Web Profile: </a:t>
            </a:r>
            <a:r>
              <a:rPr sz="950" b="0">
                <a:solidFill>
                  <a:srgbClr val="64748B"/>
                </a:solidFill>
                <a:latin typeface="Arial"/>
              </a:rPr>
              <a:t>Clean, professional link for LinkedIn, resumes, and portfolios.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Visual Distinction: </a:t>
            </a:r>
            <a:r>
              <a:rPr sz="950" b="0">
                <a:solidFill>
                  <a:srgbClr val="64748B"/>
                </a:solidFill>
                <a:latin typeface="Arial"/>
              </a:rPr>
              <a:t>Verified institutional diplomas are clearly differentiated from self-submitted uploads.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Direct Verification Links: </a:t>
            </a:r>
            <a:r>
              <a:rPr sz="950" b="0">
                <a:solidFill>
                  <a:srgbClr val="64748B"/>
                </a:solidFill>
                <a:latin typeface="Arial"/>
              </a:rPr>
              <a:t>Each credential card links directly to its underlying cryptographic audit proof.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Privacy Shield: </a:t>
            </a:r>
            <a:r>
              <a:rPr sz="950" b="0">
                <a:solidFill>
                  <a:srgbClr val="64748B"/>
                </a:solidFill>
                <a:latin typeface="Arial"/>
              </a:rPr>
              <a:t>Sensitive emails, raw file paths, and declined items are strictly omitted.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916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9164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56232"/>
            <a:ext cx="305409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Helvetica"/>
              </a:defRPr>
            </a:pPr>
            <a:r>
              <a:t>3. Privacy-Preserving Guardrails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Arial"/>
              </a:defRPr>
            </a:pPr>
            <a:r>
              <a:t>Zero Data Leakage Architecture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PII Isolation: </a:t>
            </a:r>
            <a:r>
              <a:rPr sz="950" b="0">
                <a:solidFill>
                  <a:srgbClr val="64748B"/>
                </a:solidFill>
                <a:latin typeface="Arial"/>
              </a:rPr>
              <a:t>Candidate contact info and internal storage keys are never exposed on public routes.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Safe Error Handling: </a:t>
            </a:r>
            <a:r>
              <a:rPr sz="950" b="0">
                <a:solidFill>
                  <a:srgbClr val="64748B"/>
                </a:solidFill>
                <a:latin typeface="Arial"/>
              </a:rPr>
              <a:t>Missing credentials return generic 404 without revealing private system existence.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Hashed Public Connectors: </a:t>
            </a:r>
            <a:r>
              <a:rPr sz="950" b="0">
                <a:solidFill>
                  <a:srgbClr val="64748B"/>
                </a:solidFill>
                <a:latin typeface="Arial"/>
              </a:rPr>
              <a:t>Issuer registry lookups store only SHA-256 name hashes (`rawNameHash`).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Revocation Honesty: </a:t>
            </a:r>
            <a:r>
              <a:rPr sz="950" b="0">
                <a:solidFill>
                  <a:srgbClr val="64748B"/>
                </a:solidFill>
                <a:latin typeface="Arial"/>
              </a:rPr>
              <a:t>Revoked credentials display explicit timestamp and reason without data deletion.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ZERO-TRUST SECURITY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Architectural Safety: Anti-SSRF Public Issuer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Rigorous defense-in-depth controls preventing Server-Side Request Forgery and data exfiltration.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Helvetica"/>
              </a:defRPr>
            </a:pPr>
            <a:r>
              <a:t>Strictly Prohibited Practices (SSRF Vectors)</a:t>
            </a:r>
          </a:p>
          <a:p>
            <a:pPr>
              <a:spcBef>
                <a:spcPts val="1000"/>
              </a:spcBef>
              <a:defRPr sz="1150" b="1">
                <a:solidFill>
                  <a:srgbClr val="1A1A1A"/>
                </a:solidFill>
                <a:latin typeface="Helvetica"/>
              </a:defRPr>
            </a:pPr>
            <a:r>
              <a:t>✖  No Arbitrary URL Fetching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Provenance never extracts a URL or QR code payload from uploaded documents to fetch it. Allowing document contents to dictate host, port, or path is textbook SSRF.</a:t>
            </a:r>
          </a:p>
          <a:p>
            <a:pPr>
              <a:spcBef>
                <a:spcPts val="1000"/>
              </a:spcBef>
              <a:defRPr sz="1150" b="1">
                <a:solidFill>
                  <a:srgbClr val="1A1A1A"/>
                </a:solidFill>
                <a:latin typeface="Helvetica"/>
              </a:defRPr>
            </a:pPr>
            <a:r>
              <a:t>✖  No Open Network Scrapers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OCR text is never used to determine outbound network destinations or dynamic HTTP endpoints.</a:t>
            </a:r>
          </a:p>
          <a:p>
            <a:pPr>
              <a:spcBef>
                <a:spcPts val="1000"/>
              </a:spcBef>
              <a:defRPr sz="1150" b="1">
                <a:solidFill>
                  <a:srgbClr val="1A1A1A"/>
                </a:solidFill>
                <a:latin typeface="Helvetica"/>
              </a:defRPr>
            </a:pPr>
            <a:r>
              <a:t>✖  No Plaintext Third-Party Storage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Extracted recipient names from public issuer verification pages are never stored in plaintext in any table or API response. Only a SHA-256 hash is persisted.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73152" cy="4480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Helvetica"/>
              </a:defRPr>
            </a:pPr>
            <a:r>
              <a:t>Concrete Anti-SSRF Defense Controls</a:t>
            </a:r>
          </a:p>
          <a:p>
            <a:pPr>
              <a:spcBef>
                <a:spcPts val="800"/>
              </a:spcBef>
              <a:defRPr sz="1100" b="1">
                <a:solidFill>
                  <a:srgbClr val="1A1A1A"/>
                </a:solidFill>
                <a:latin typeface="Helvetica"/>
              </a:defRPr>
            </a:pPr>
            <a:r>
              <a:t>✔  Decoupled Host Registry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Connector selection is steered exclusively by candidate's self-declared institution name matched against a static alias registry.</a:t>
            </a:r>
          </a:p>
          <a:p>
            <a:pPr>
              <a:spcBef>
                <a:spcPts val="800"/>
              </a:spcBef>
              <a:defRPr sz="1100" b="1">
                <a:solidFill>
                  <a:srgbClr val="1A1A1A"/>
                </a:solidFill>
                <a:latin typeface="Helvetica"/>
              </a:defRPr>
            </a:pPr>
            <a:r>
              <a:t>✔  Constant Destination Hosts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Destination host ('www.coursera.org') is a hardcoded module constant. Target URL host and 'https:' protocol are asserted before dispatch.</a:t>
            </a:r>
          </a:p>
          <a:p>
            <a:pPr>
              <a:spcBef>
                <a:spcPts val="800"/>
              </a:spcBef>
              <a:defRPr sz="1100" b="1">
                <a:solidFill>
                  <a:srgbClr val="1A1A1A"/>
                </a:solidFill>
                <a:latin typeface="Helvetica"/>
              </a:defRPr>
            </a:pPr>
            <a:r>
              <a:t>✔  Strict Whitelist Regex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Tokens are validated against /^[A-Z0-9]{8,20}$/. Slashes, dots, and queries are rejected with zero network requests.</a:t>
            </a:r>
          </a:p>
          <a:p>
            <a:pPr>
              <a:spcBef>
                <a:spcPts val="800"/>
              </a:spcBef>
              <a:defRPr sz="1100" b="1">
                <a:solidFill>
                  <a:srgbClr val="1A1A1A"/>
                </a:solidFill>
                <a:latin typeface="Helvetica"/>
              </a:defRPr>
            </a:pPr>
            <a:r>
              <a:t>✔  Same-Host Redirect Policy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Redirects (max 2 hops) strictly assert targetUrl.host === connector.host and HTTPS at every hop. Any discrepancy immediately aborts.</a:t>
            </a:r>
          </a:p>
          <a:p>
            <a:pPr>
              <a:spcBef>
                <a:spcPts val="800"/>
              </a:spcBef>
              <a:defRPr sz="1100" b="1">
                <a:solidFill>
                  <a:srgbClr val="1A1A1A"/>
                </a:solidFill>
                <a:latin typeface="Helvetica"/>
              </a:defRPr>
            </a:pPr>
            <a:r>
              <a:t>✔  Resource Bounds &amp; 24h Cache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5-second AbortController timeout, 512KB response body cap, and 24-hour IssuerLookup database caching prevent resource exhaustion.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ROLE-BASED ACCESS CONTROL &amp; USER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Multi-Role Ecosystem: Seamless Personas &amp;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Tailored experiences for Candidates, Issuer Staff, Recruiters, and Platform Administrators.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487168" cy="73152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215798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F74"/>
                </a:solidFill>
                <a:latin typeface="Helvetica"/>
              </a:defRPr>
            </a:pPr>
            <a:r>
              <a:t>Candidate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Upload &amp; Manage Portfolio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Upload certificates &amp; view instant forensics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Request attestation from universities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Curate shareable public portfolio link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Monitor verification request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69164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691640"/>
            <a:ext cx="248716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856232"/>
            <a:ext cx="215798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Helvetica"/>
              </a:defRPr>
            </a:pPr>
            <a:r>
              <a:t>Issuer Staff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Review &amp; Cryptographic Issuance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Manage incoming student attestation queue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Side-by-side OCR &amp; forensic inspection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Commit approved credentials to hash chain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Search institutional roster &amp; revoke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9164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691640"/>
            <a:ext cx="248716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856232"/>
            <a:ext cx="215798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Helvetica"/>
              </a:defRPr>
            </a:pPr>
            <a:r>
              <a:t>Recruiter / Verifier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Audit &amp; Verify Trust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Zero-friction ID search &amp; QR scanning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Audit tamper-evident SHA-256 proofs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Inspect raw forensic inspection signals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Confirm active vs revoked diploma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8824" y="169164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8824" y="1691640"/>
            <a:ext cx="2487168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1856232"/>
            <a:ext cx="215798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Helvetica"/>
              </a:defRPr>
            </a:pPr>
            <a:r>
              <a:t>Platform Admin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Governance &amp; Infrastructure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Approve &amp; onboard issuing universities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Verify institution domains and staff accounts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Inspect system-wide actor Audit Logs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• Monitor server health &amp; database backups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DATA ARCHITECTURE &amp; PRISMA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Relational Data Model &amp; Cryptographic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Prisma schema designed for transactional consistency, auditability, and tamper-detection.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3383280" cy="73152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5409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F74"/>
                </a:solidFill>
                <a:latin typeface="Helvetica"/>
              </a:defRPr>
            </a:pPr>
            <a:r>
              <a:t>Identity &amp; Institutions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Arial"/>
              </a:defRPr>
            </a:pPr>
            <a:r>
              <a:t>Core User &amp; Issuer Models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User: </a:t>
            </a:r>
            <a:r>
              <a:rPr sz="900" b="0">
                <a:solidFill>
                  <a:srgbClr val="64748B"/>
                </a:solidFill>
                <a:latin typeface="Arial"/>
              </a:rPr>
              <a:t>id, email, passwordHash, role (candidate | issuer_staff | platform_admin).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CandidateProfile: </a:t>
            </a:r>
            <a:r>
              <a:rPr sz="900" b="0">
                <a:solidFill>
                  <a:srgbClr val="64748B"/>
                </a:solidFill>
                <a:latin typeface="Arial"/>
              </a:rPr>
              <a:t>userId, publicUsername, name, headline, bio, avatarUrl.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Issuer: </a:t>
            </a:r>
            <a:r>
              <a:rPr sz="900" b="0">
                <a:solidFill>
                  <a:srgbClr val="64748B"/>
                </a:solidFill>
                <a:latin typeface="Arial"/>
              </a:rPr>
              <a:t>id, name, domain (unique), status (pending | approved | rejected), approvedBy.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IssuerUser: </a:t>
            </a:r>
            <a:r>
              <a:rPr sz="900" b="0">
                <a:solidFill>
                  <a:srgbClr val="64748B"/>
                </a:solidFill>
                <a:latin typeface="Arial"/>
              </a:rPr>
              <a:t>id, issuerId, userId, role (staff | admin).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916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9164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56232"/>
            <a:ext cx="305409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Helvetica"/>
              </a:defRPr>
            </a:pPr>
            <a:r>
              <a:t>Forensics &amp; Analysis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Arial"/>
              </a:defRPr>
            </a:pPr>
            <a:r>
              <a:t>Document &amp; Inspection Models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Document: </a:t>
            </a:r>
            <a:r>
              <a:rPr sz="900" b="0">
                <a:solidFill>
                  <a:srgbClr val="64748B"/>
                </a:solidFill>
                <a:latin typeface="Arial"/>
              </a:rPr>
              <a:t>id, candidateId, storageKey, rawFileHash, canonicalContentHash, phash, ocrText, ocrConfidence, c2paPresent.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DocumentAnalysis: </a:t>
            </a:r>
            <a:r>
              <a:rPr sz="900" b="0">
                <a:solidFill>
                  <a:srgbClr val="64748B"/>
                </a:solidFill>
                <a:latin typeface="Arial"/>
              </a:rPr>
              <a:t>id, documentId, signalType, signalValue (JSON), severity (low_concern | review_recommended | inconclusive).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IssuerLookup: </a:t>
            </a:r>
            <a:r>
              <a:rPr sz="900" b="0">
                <a:solidFill>
                  <a:srgbClr val="64748B"/>
                </a:solidFill>
                <a:latin typeface="Arial"/>
              </a:rPr>
              <a:t>id, documentId, connectorId, code, outcome, rawNameHash, checkedAt.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916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9164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56232"/>
            <a:ext cx="305409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Helvetica"/>
              </a:defRPr>
            </a:pPr>
            <a:r>
              <a:t>Credentials &amp; Hash Ledger</a:t>
            </a:r>
          </a:p>
          <a:p>
            <a:pPr>
              <a:spcBef>
                <a:spcPts val="400"/>
              </a:spcBef>
              <a:defRPr sz="950" b="1">
                <a:solidFill>
                  <a:srgbClr val="1A1A1A"/>
                </a:solidFill>
                <a:latin typeface="Arial"/>
              </a:defRPr>
            </a:pPr>
            <a:r>
              <a:t>Immutable Ledger Models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Credential: </a:t>
            </a:r>
            <a:r>
              <a:rPr sz="900" b="0">
                <a:solidFill>
                  <a:srgbClr val="64748B"/>
                </a:solidFill>
                <a:latin typeface="Arial"/>
              </a:rPr>
              <a:t>id, candidateId, issuerId, source, status (unverified | pending | verified | rejected | revoked), credentialType, title.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VerificationRequest: </a:t>
            </a:r>
            <a:r>
              <a:rPr sz="900" b="0">
                <a:solidFill>
                  <a:srgbClr val="64748B"/>
                </a:solidFill>
                <a:latin typeface="Arial"/>
              </a:rPr>
              <a:t>id, credentialId, candidateId, issuerId, status, requestedAt, resolvedAt, resolvedBy.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CredentialEvent: </a:t>
            </a:r>
            <a:r>
              <a:rPr sz="900" b="0">
                <a:solidFill>
                  <a:srgbClr val="64748B"/>
                </a:solidFill>
                <a:latin typeface="Arial"/>
              </a:rPr>
              <a:t>id, credentialId, issuerId, eventType, canonicalData (JSON), contentHash, prevHash, createdAt, createdBy.</a:t>
            </a:r>
          </a:p>
          <a:p>
            <a:pPr>
              <a:spcBef>
                <a:spcPts val="600"/>
              </a:spcBef>
              <a:defRPr sz="950" b="1">
                <a:solidFill>
                  <a:srgbClr val="1A1A1A"/>
                </a:solidFill>
                <a:latin typeface="Helvetica"/>
              </a:defRPr>
            </a:pPr>
            <a:r>
              <a:t>• AuditLog: </a:t>
            </a:r>
            <a:r>
              <a:rPr sz="900" b="0">
                <a:solidFill>
                  <a:srgbClr val="64748B"/>
                </a:solidFill>
                <a:latin typeface="Arial"/>
              </a:rPr>
              <a:t>id, actorId, action, targetType, targetId, metadata (JSON), createdAt.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ENTERPRISE 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Defense-in-Depth Security &amp; Privacy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Engineered from the ground up for strict confidentiality, data minimization, and auditability.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74520"/>
            <a:ext cx="73152" cy="1691640"/>
          </a:xfrm>
          <a:prstGeom prst="round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Cryptographic Integrity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SHA-256 content hashes, deterministic JSON canonicalization, and PostgreSQL transaction advisory locking prevent data corruption and tampering.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1874520"/>
            <a:ext cx="73152" cy="1691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828800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Auth &amp; Access Control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Stateless JWT authentication, bcrypt (12 rounds) password hashing, and strict role-based route middleware protect all internal endpoints.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4160519"/>
            <a:ext cx="73152" cy="1691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114799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Zero PII Leakage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Candidate emails, phone numbers, and physical storage paths are completely omitted from public API payloads and verifier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4160519"/>
            <a:ext cx="73152" cy="1691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4114799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Immutable Audit Logs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Every platform action (login, upload, verification, approval, rejection, issuer creation) is immutably logged with actorId, timestamps, and metadata.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5F74"/>
                </a:solidFill>
                <a:latin typeface="Helvetica"/>
              </a:defRPr>
            </a:pPr>
            <a:r>
              <a:t>✦  PRODUCT ROADMAP &amp; STRATEGIC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Helvetica"/>
              </a:defRPr>
            </a:pPr>
            <a:r>
              <a:t>Strategic Roadmap: The Future of Verifiable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Expanding Provenance across decentralized identity, AI forgery detection, and global issuer networks.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PROVENANCE  |  Tamper-Evident Credential-Verification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74520"/>
            <a:ext cx="73152" cy="1691640"/>
          </a:xfrm>
          <a:prstGeom prst="round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Phase 1: W3C Decentralized Identity (DIDs)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Integration with W3C Verifiable Credentials (VC) standard, allowing candidates to export cryptographically signed credentials directly to Apple Wallet &amp; Google Wallet.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1874520"/>
            <a:ext cx="73152" cy="1691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828800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Phase 2: Deep Learning GAN Forgery Detection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Advanced computer vision models detecting subtle generative AI visual inpainting, font boundary irregularities, and digital certificate stamp manipulations.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4160519"/>
            <a:ext cx="73152" cy="1691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114799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Phase 3: Enterprise HRIS &amp; ATS Integrations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Direct API connectors and webhooks for Workday, Greenhouse, Lever, and SAP SuccessFactors for automated candidate verification upon job application.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4160519"/>
            <a:ext cx="73152" cy="1691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4114799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Helvetica"/>
              </a:defRPr>
            </a:pPr>
            <a:r>
              <a:t>Phase 4: Global Federated Issuer Consortium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Decentralized consensus verification network connecting international universities, accreditation boards, and professional licensing bodies worldwide.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3566160" cy="347472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6CCF2"/>
                </a:solidFill>
                <a:latin typeface="Helvetica"/>
              </a:defRPr>
            </a:pPr>
            <a:r>
              <a:t>✦  THE FUTURE OF CREDENTIAL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Proven Integrity. Zero Doubt. Instant Trust.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Provenance bridges candidates, issuing institutions, and verifiers into an unforgeable trust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23160"/>
            <a:ext cx="3154680" cy="23774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423160"/>
            <a:ext cx="3154680" cy="54864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6CCF2"/>
                </a:solidFill>
                <a:latin typeface="Helvetica"/>
              </a:defRPr>
            </a:pPr>
            <a:r>
              <a:t>Deterministic Forensics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6-stage file analysis providing objective evidence rather than opaque probabilistic guesses.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423160"/>
            <a:ext cx="3154680" cy="23774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423160"/>
            <a:ext cx="31546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  <a:latin typeface="Helvetica"/>
              </a:defRPr>
            </a:pPr>
            <a:r>
              <a:t>Tamper-Evident Ledger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Append-only cryptographic hash chain guaranteeing mathematical record immutability.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2423160"/>
            <a:ext cx="3154680" cy="23774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0416" y="2423160"/>
            <a:ext cx="3154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6060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  <a:latin typeface="Helvetica"/>
              </a:defRPr>
            </a:pPr>
            <a:r>
              <a:t>Enterprise Architecture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Next.js App Router, Express, PostgreSQL, Anti-SSRF connectors, and privacy-preserving APIs.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29200"/>
            <a:ext cx="9966960" cy="11887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1206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6CCF2"/>
                </a:solidFill>
                <a:latin typeface="Helvetica"/>
              </a:defRPr>
            </a:pPr>
            <a:r>
              <a:t>⚡  Get Started with Provenance in 3 Steps: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  <a:latin typeface="Courier New"/>
              </a:defRPr>
            </a:pPr>
            <a:r>
              <a:t>1. Clone repo &amp; run `npm install`   •   2. Start DB with `docker-compose up -d` &amp; run migrations   •   3. Launch `npm run dev:api` &amp; `npm run dev:web`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